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137"/>
                </a:solidFill>
                <a:latin typeface="Aptos"/>
              </a:defRPr>
            </a:pPr>
            <a:r>
              <a:t>PTIT-LEARNING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LỚP HỌC 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31720"/>
            <a:ext cx="6766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DAE4F2"/>
                </a:solidFill>
                <a:latin typeface="Aptos"/>
              </a:defRPr>
            </a:pPr>
            <a:r>
              <a:t>Học trực tuyến — tương tác trong thời gian thực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Một không gian học tập kết nối học viên và giảng viên</a:t>
            </a:r>
          </a:p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trong cùng một trải nghiệm số.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0916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48280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137"/>
                </a:solidFill>
                <a:latin typeface="Aptos"/>
              </a:defRPr>
            </a:pPr>
            <a:r>
              <a:t>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1389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Video &amp; âm thanh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470916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48280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137"/>
                </a:solidFill>
                <a:latin typeface="Aptos"/>
              </a:defRPr>
            </a:pPr>
            <a:r>
              <a:t>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51389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Trao đổi tức thì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4709160"/>
            <a:ext cx="1938528" cy="96012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48280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9137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5138928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Aptos"/>
              </a:defRPr>
            </a:pPr>
            <a:r>
              <a:t>Điểm danh tự động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2971800" cy="342900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49640" y="1783080"/>
            <a:ext cx="2331720" cy="1463040"/>
          </a:xfrm>
          <a:prstGeom prst="roundRect">
            <a:avLst>
              <a:gd name="adj" fmla="val 12000"/>
            </a:avLst>
          </a:prstGeom>
          <a:solidFill>
            <a:srgbClr val="204065"/>
          </a:solidFill>
          <a:ln>
            <a:solidFill>
              <a:srgbClr val="2040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2" y="19385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9137"/>
                </a:solidFill>
                <a:latin typeface="Aptos"/>
              </a:defRPr>
            </a:pPr>
            <a:r>
              <a:t>●  ●  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487168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PHÒNG HỌC TRỰC TUYẾN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648" y="36118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405B7B"/>
          </a:solidFill>
          <a:ln>
            <a:solidFill>
              <a:srgbClr val="405B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63456" y="36118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4F6987"/>
          </a:solidFill>
          <a:ln>
            <a:solidFill>
              <a:srgbClr val="4F69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13264" y="3611880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44E6F"/>
          </a:solidFill>
          <a:ln>
            <a:solidFill>
              <a:srgbClr val="344E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5166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AE4F2"/>
                </a:solidFill>
                <a:latin typeface="Aptos"/>
              </a:defRPr>
            </a:pPr>
            <a:r>
              <a:t>Kết nối • Tương tác • Tiến bộ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5B8D0"/>
                </a:solidFill>
                <a:latin typeface="Aptos"/>
              </a:defRPr>
            </a:pPr>
            <a:r>
              <a:t>01  /  GIỚI THIỆU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LỘ TRÌNH HỌC TẬP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DAE4F2"/>
                </a:solidFill>
                <a:latin typeface="Aptos"/>
              </a:defRPr>
            </a:pPr>
            <a:r>
              <a:t>Từ đăng ký khóa học đến tổng kết buổi học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137"/>
                </a:solidFill>
                <a:latin typeface="Aptos"/>
              </a:defRPr>
            </a:pPr>
            <a:r>
              <a:t>01  CHUẨN BỊ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137"/>
                </a:solidFill>
                <a:latin typeface="Aptos"/>
              </a:defRPr>
            </a:pPr>
            <a:r>
              <a:t>02  THAM GIA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737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9137"/>
                </a:solidFill>
                <a:latin typeface="Aptos"/>
              </a:defRPr>
            </a:pPr>
            <a:r>
              <a:t>03  HOÀN TẤT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96312"/>
            <a:ext cx="2468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Đăng ký khóa học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9476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959352"/>
            <a:ext cx="2468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Nhận lịch &amp; thông báo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33172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496312"/>
            <a:ext cx="2468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Vào phòng học 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79476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3959352"/>
            <a:ext cx="2468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Học, chat, chia sẻ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33172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496312"/>
            <a:ext cx="2468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Ghi nhận điểm danh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794760"/>
            <a:ext cx="2743200" cy="77724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3959352"/>
            <a:ext cx="24688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Tài liệu &amp; tổng kết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429000" y="2724912"/>
            <a:ext cx="502920" cy="411480"/>
          </a:xfrm>
          <a:prstGeom prst="rightArrow">
            <a:avLst/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132320" y="2724912"/>
            <a:ext cx="502920" cy="411480"/>
          </a:xfrm>
          <a:prstGeom prst="rightArrow">
            <a:avLst/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2011680" y="3154680"/>
            <a:ext cx="320040" cy="502920"/>
          </a:xfrm>
          <a:prstGeom prst="downArrow">
            <a:avLst/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715000" y="3154680"/>
            <a:ext cx="320040" cy="502920"/>
          </a:xfrm>
          <a:prstGeom prst="downArrow">
            <a:avLst/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9509760" y="3154680"/>
            <a:ext cx="320040" cy="502920"/>
          </a:xfrm>
          <a:prstGeom prst="downArrow">
            <a:avLst/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Kết quả: học viên có lịch rõ ràng, tương tác trực tiếp và theo dõi được quá trình tham gia.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400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5B8D0"/>
                </a:solidFill>
                <a:latin typeface="Aptos"/>
              </a:defRPr>
            </a:pPr>
            <a:r>
              <a:t>02  /  FLOWCHART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TÍNH NĂNG CỐT LÕI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DAE4F2"/>
                </a:solidFill>
                <a:latin typeface="Aptos"/>
              </a:defRPr>
            </a:pPr>
            <a:r>
              <a:t>Thiết kế lấy người học làm trung tâm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128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1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Lớp học trực tiếp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AE4F2"/>
                </a:solidFill>
                <a:latin typeface="Aptos"/>
              </a:defRPr>
            </a:pPr>
            <a:r>
              <a:t>Micro, camera và trạng thái kết nối rõ ràng.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96596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36592" y="22128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1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Tương tác tức thì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36592" y="338328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AE4F2"/>
                </a:solidFill>
                <a:latin typeface="Aptos"/>
              </a:defRPr>
            </a:pPr>
            <a:r>
              <a:t>Chat lớp học và chia sẻ màn hình/tài liệu.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0183" y="196596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173052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58784" y="2212848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1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Theo dõi tiến độ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58784" y="3383280"/>
            <a:ext cx="2880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DAE4F2"/>
                </a:solidFill>
                <a:latin typeface="Aptos"/>
              </a:defRPr>
            </a:pPr>
            <a:r>
              <a:t>Ghi nhận thời lượng tham gia và điểm danh.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983480"/>
            <a:ext cx="10927080" cy="777240"/>
          </a:xfrm>
          <a:prstGeom prst="roundRect">
            <a:avLst>
              <a:gd name="adj" fmla="val 12000"/>
            </a:avLst>
          </a:prstGeom>
          <a:solidFill>
            <a:srgbClr val="FF9137"/>
          </a:solidFill>
          <a:ln>
            <a:solidFill>
              <a:srgbClr val="FF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9379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F3A"/>
                </a:solidFill>
                <a:latin typeface="Aptos"/>
              </a:defRPr>
            </a:pPr>
            <a:r>
              <a:t>Mục tiêu: đơn giản hóa việc dạy và học — an toàn, dễ dùng, có thể đo lường.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4008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A5B8D0"/>
                </a:solidFill>
                <a:latin typeface="Aptos"/>
              </a:defRPr>
            </a:pPr>
            <a:r>
              <a:t>03  /  GIÁ TRỊ SẢN PHẨM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